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 rot="900000">
            <a:off x="5486400" y="1828800"/>
            <a:ext cx="3657600" cy="36576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APRESENTAÇÃO</a:t>
            </a:r>
          </a:p>
          <a:p>
            <a:pPr>
              <a:spcBef>
                <a:spcPts val="1000"/>
              </a:spcBef>
              <a:defRPr sz="4800" b="1">
                <a:solidFill>
                  <a:srgbClr val="FFFFFF"/>
                </a:solidFill>
              </a:defRPr>
            </a:pPr>
            <a:r>
              <a:t>TÉCNICO-JURÍDICA</a:t>
            </a:r>
          </a:p>
          <a:p>
            <a:pPr>
              <a:spcBef>
                <a:spcPts val="2000"/>
              </a:spcBef>
              <a:defRPr sz="1000">
                <a:solidFill>
                  <a:srgbClr val="BDC3C7"/>
                </a:solidFill>
              </a:defRPr>
            </a:pPr>
            <a:endParaRPr/>
          </a:p>
          <a:p>
            <a:pPr>
              <a:spcBef>
                <a:spcPts val="1000"/>
              </a:spcBef>
              <a:defRPr sz="2400" b="0">
                <a:solidFill>
                  <a:srgbClr val="FFFFFF"/>
                </a:solidFill>
              </a:defRPr>
            </a:pPr>
            <a:r>
              <a:t>Imóvel em Concessão de Uso</a:t>
            </a:r>
          </a:p>
          <a:p>
            <a:pPr>
              <a:spcBef>
                <a:spcPts val="1000"/>
              </a:spcBef>
              <a:defRPr sz="2000">
                <a:solidFill>
                  <a:srgbClr val="BDC3C7"/>
                </a:solidFill>
              </a:defRPr>
            </a:pPr>
            <a:r>
              <a:t>Araçatuba - São Paulo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DC3C7"/>
                </a:solidFill>
              </a:defRPr>
            </a:pPr>
            <a:r>
              <a:t>Novembro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Visão Geral do Imóvel</a:t>
            </a:r>
          </a:p>
        </p:txBody>
      </p:sp>
      <p:pic>
        <p:nvPicPr>
          <p:cNvPr id="4" name="Picture 3" descr="PHOTO-2025-11-06-10-33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114800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0972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LOCALIZAÇÃO</a:t>
            </a:r>
          </a:p>
          <a:p>
            <a:pPr>
              <a:spcBef>
                <a:spcPts val="500"/>
              </a:spcBef>
              <a:defRPr sz="1400"/>
            </a:pPr>
            <a:r>
              <a:t>Araçatuba - São Paulo</a:t>
            </a:r>
          </a:p>
          <a:p>
            <a:pPr>
              <a:spcBef>
                <a:spcPts val="1500"/>
              </a:spcBef>
            </a:pPr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TIPO DE DIREITO</a:t>
            </a:r>
          </a:p>
          <a:p>
            <a:pPr>
              <a:spcBef>
                <a:spcPts val="500"/>
              </a:spcBef>
              <a:defRPr sz="1400"/>
            </a:pPr>
            <a:r>
              <a:t>Concessão de Direito Real de Uso Municipal</a:t>
            </a:r>
          </a:p>
          <a:p>
            <a:pPr>
              <a:spcBef>
                <a:spcPts val="1500"/>
              </a:spcBef>
            </a:pPr>
            <a:endParaRPr/>
          </a:p>
          <a:p>
            <a:pPr>
              <a:defRPr sz="1600" b="1">
                <a:solidFill>
                  <a:srgbClr val="003366"/>
                </a:solidFill>
              </a:defRPr>
            </a:pPr>
            <a:r>
              <a:t>SITUAÇÃO ATUAL</a:t>
            </a:r>
          </a:p>
          <a:p>
            <a:pPr>
              <a:spcBef>
                <a:spcPts val="500"/>
              </a:spcBef>
              <a:defRPr sz="1400"/>
            </a:pPr>
            <a:r>
              <a:t>• Ocupado e em operação</a:t>
            </a:r>
          </a:p>
          <a:p>
            <a:pPr>
              <a:spcBef>
                <a:spcPts val="500"/>
              </a:spcBef>
              <a:defRPr sz="1400"/>
            </a:pPr>
            <a:r>
              <a:t>• Infraestrutura completa</a:t>
            </a:r>
          </a:p>
          <a:p>
            <a:pPr>
              <a:spcBef>
                <a:spcPts val="500"/>
              </a:spcBef>
              <a:defRPr sz="1400"/>
            </a:pPr>
            <a:r>
              <a:t>• Aproximadamente 30 anos</a:t>
            </a:r>
          </a:p>
          <a:p>
            <a:pPr>
              <a:spcBef>
                <a:spcPts val="500"/>
              </a:spcBef>
              <a:defRPr sz="1400"/>
            </a:pPr>
            <a:r>
              <a:t>• Finalidade comercial/industrial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Área e Instalações</a:t>
            </a:r>
          </a:p>
        </p:txBody>
      </p:sp>
      <p:pic>
        <p:nvPicPr>
          <p:cNvPr id="4" name="Picture 3" descr="PHOTO-2025-11-06-10-33-09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7F8C8D"/>
                </a:solidFill>
              </a:defRPr>
            </a:pPr>
            <a:r>
              <a:t>Vista geral da área • Infraestrutura instalada • Construções existentes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Base Legal e Documentação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LEGISLAÇÃO APLICÁVEL</a:t>
            </a:r>
          </a:p>
          <a:p>
            <a:pPr>
              <a:spcBef>
                <a:spcPts val="1000"/>
              </a:spcBef>
              <a:defRPr sz="1600"/>
            </a:pPr>
            <a:r>
              <a:t>• Lei Municipal de Araçatuba (1994)</a:t>
            </a:r>
          </a:p>
          <a:p>
            <a:pPr>
              <a:spcBef>
                <a:spcPts val="1000"/>
              </a:spcBef>
              <a:defRPr sz="1600"/>
            </a:pPr>
            <a:r>
              <a:t>• Decreto de Concessão - Prefeito Domingos Martin Andorfato</a:t>
            </a:r>
          </a:p>
          <a:p>
            <a:pPr>
              <a:spcBef>
                <a:spcPts val="1000"/>
              </a:spcBef>
              <a:defRPr sz="1600"/>
            </a:pPr>
            <a:r>
              <a:t>• Registro no 3º Cartório de Notas e Protesto</a:t>
            </a:r>
          </a:p>
          <a:p>
            <a:pPr>
              <a:spcBef>
                <a:spcPts val="2500"/>
              </a:spcBef>
              <a:defRPr sz="2000" b="1">
                <a:solidFill>
                  <a:srgbClr val="003366"/>
                </a:solidFill>
              </a:defRPr>
            </a:pPr>
            <a:r>
              <a:t>DOCUMENTOS DISPONÍVEIS</a:t>
            </a:r>
          </a:p>
          <a:p>
            <a:pPr>
              <a:spcBef>
                <a:spcPts val="1000"/>
              </a:spcBef>
              <a:defRPr sz="1600">
                <a:solidFill>
                  <a:srgbClr val="27AE60"/>
                </a:solidFill>
              </a:defRPr>
            </a:pPr>
            <a:r>
              <a:t>✓ Escritura de Concessão registrada</a:t>
            </a:r>
          </a:p>
          <a:p>
            <a:pPr>
              <a:spcBef>
                <a:spcPts val="1000"/>
              </a:spcBef>
              <a:defRPr sz="1600">
                <a:solidFill>
                  <a:srgbClr val="27AE60"/>
                </a:solidFill>
              </a:defRPr>
            </a:pPr>
            <a:r>
              <a:t>✓ Lei Municipal autorizativa</a:t>
            </a:r>
          </a:p>
          <a:p>
            <a:pPr>
              <a:spcBef>
                <a:spcPts val="1000"/>
              </a:spcBef>
              <a:defRPr sz="1600">
                <a:solidFill>
                  <a:srgbClr val="27AE60"/>
                </a:solidFill>
              </a:defRPr>
            </a:pPr>
            <a:r>
              <a:t>✓ Certidões cartorárias atualizadas</a:t>
            </a:r>
          </a:p>
          <a:p>
            <a:pPr>
              <a:spcBef>
                <a:spcPts val="1000"/>
              </a:spcBef>
              <a:defRPr sz="1600">
                <a:solidFill>
                  <a:srgbClr val="27AE60"/>
                </a:solidFill>
              </a:defRPr>
            </a:pPr>
            <a:r>
              <a:t>✓ Histórico de ocupação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Documentação Cartorial</a:t>
            </a:r>
          </a:p>
        </p:txBody>
      </p:sp>
      <p:pic>
        <p:nvPicPr>
          <p:cNvPr id="4" name="Picture 3" descr="PHOTO-2025-11-06-10-33-09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3840480" cy="4846320"/>
          </a:xfrm>
          <a:prstGeom prst="rect">
            <a:avLst/>
          </a:prstGeom>
        </p:spPr>
      </p:pic>
      <p:pic>
        <p:nvPicPr>
          <p:cNvPr id="5" name="Picture 4" descr="PHOTO-2025-11-06-10-33-09_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97280"/>
            <a:ext cx="384048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Direitos Garantidos pela Concessão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✓ DIREITO DE USO PERPÉTUO</a:t>
            </a:r>
          </a:p>
          <a:p>
            <a:pPr>
              <a:spcBef>
                <a:spcPts val="500"/>
              </a:spcBef>
              <a:defRPr sz="1400"/>
            </a:pPr>
            <a:r>
              <a:t>Uso indefinido enquanto cumpridas as condições</a:t>
            </a:r>
          </a:p>
          <a:p>
            <a:pPr>
              <a:spcBef>
                <a:spcPts val="2000"/>
              </a:spcBef>
            </a:pPr>
            <a:endParaRPr/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✓ DIREITO DE CONSTRUIR E BENFEITORIAR</a:t>
            </a:r>
          </a:p>
          <a:p>
            <a:pPr>
              <a:spcBef>
                <a:spcPts val="500"/>
              </a:spcBef>
              <a:defRPr sz="1400"/>
            </a:pPr>
            <a:r>
              <a:t>Autorização para obras e instalações</a:t>
            </a:r>
          </a:p>
          <a:p>
            <a:pPr>
              <a:spcBef>
                <a:spcPts val="2000"/>
              </a:spcBef>
            </a:pPr>
            <a:endParaRPr/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✓ DIREITO DE COMERCIALIZAR</a:t>
            </a:r>
          </a:p>
          <a:p>
            <a:pPr>
              <a:spcBef>
                <a:spcPts val="500"/>
              </a:spcBef>
              <a:defRPr sz="1400"/>
            </a:pPr>
            <a:r>
              <a:t>Transferência mediante anuência municipal</a:t>
            </a:r>
          </a:p>
          <a:p>
            <a:pPr>
              <a:spcBef>
                <a:spcPts val="2000"/>
              </a:spcBef>
            </a:pPr>
            <a:endParaRPr/>
          </a:p>
          <a:p>
            <a:pPr>
              <a:defRPr sz="1800" b="1">
                <a:solidFill>
                  <a:srgbClr val="27AE60"/>
                </a:solidFill>
              </a:defRPr>
            </a:pPr>
            <a:r>
              <a:t>✓ DIREITO DE INDENIZAÇÃO</a:t>
            </a:r>
          </a:p>
          <a:p>
            <a:pPr>
              <a:spcBef>
                <a:spcPts val="500"/>
              </a:spcBef>
              <a:defRPr sz="1400"/>
            </a:pPr>
            <a:r>
              <a:t>Proteção das benfeitorias realizadas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Por Que a Prefeitura NÃO Pode Retomar?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SEGURANÇA JURÍDICA ELEVADA</a:t>
            </a:r>
          </a:p>
          <a:p>
            <a:pPr>
              <a:spcBef>
                <a:spcPts val="1500"/>
              </a:spcBef>
              <a:defRPr sz="1600" b="1">
                <a:solidFill>
                  <a:srgbClr val="003366"/>
                </a:solidFill>
              </a:defRPr>
            </a:pPr>
            <a:r>
              <a:t>1. INVESTIMENTOS REALIZADOS</a:t>
            </a:r>
          </a:p>
          <a:p>
            <a:pPr>
              <a:spcBef>
                <a:spcPts val="500"/>
              </a:spcBef>
              <a:defRPr sz="1300"/>
            </a:pPr>
            <a:r>
              <a:t>• Infraestrutura completa instalada</a:t>
            </a:r>
          </a:p>
          <a:p>
            <a:pPr>
              <a:spcBef>
                <a:spcPts val="500"/>
              </a:spcBef>
              <a:defRPr sz="1300"/>
            </a:pPr>
            <a:r>
              <a:t>• Construções significativas</a:t>
            </a:r>
          </a:p>
          <a:p>
            <a:pPr>
              <a:spcBef>
                <a:spcPts val="500"/>
              </a:spcBef>
              <a:defRPr sz="1300"/>
            </a:pPr>
            <a:r>
              <a:t>• Tempo de ocupação: ~30 anos</a:t>
            </a:r>
          </a:p>
          <a:p>
            <a:pPr>
              <a:spcBef>
                <a:spcPts val="1500"/>
              </a:spcBef>
              <a:defRPr sz="1600" b="1">
                <a:solidFill>
                  <a:srgbClr val="003366"/>
                </a:solidFill>
              </a:defRPr>
            </a:pPr>
            <a:r>
              <a:t>2. PROTEÇÃO CONSTITUCIONAL</a:t>
            </a:r>
          </a:p>
          <a:p>
            <a:pPr>
              <a:spcBef>
                <a:spcPts val="500"/>
              </a:spcBef>
              <a:defRPr sz="1300"/>
            </a:pPr>
            <a:r>
              <a:t>• Art. 5º, XXIV da CF/88</a:t>
            </a:r>
          </a:p>
          <a:p>
            <a:pPr>
              <a:spcBef>
                <a:spcPts val="500"/>
              </a:spcBef>
              <a:defRPr sz="1300"/>
            </a:pPr>
            <a:r>
              <a:t>• Benfeitorias de boa-fé = indenização obrigatória</a:t>
            </a:r>
          </a:p>
          <a:p>
            <a:pPr>
              <a:spcBef>
                <a:spcPts val="500"/>
              </a:spcBef>
              <a:defRPr sz="1300"/>
            </a:pPr>
            <a:r>
              <a:t>• Valor das benfeitorias &gt; valor do terreno</a:t>
            </a:r>
          </a:p>
          <a:p>
            <a:pPr>
              <a:spcBef>
                <a:spcPts val="1500"/>
              </a:spcBef>
              <a:defRPr sz="1600" b="1">
                <a:solidFill>
                  <a:srgbClr val="003366"/>
                </a:solidFill>
              </a:defRPr>
            </a:pPr>
            <a:r>
              <a:t>3. PRINCÍPIOS JURÍDICOS</a:t>
            </a:r>
          </a:p>
          <a:p>
            <a:pPr>
              <a:spcBef>
                <a:spcPts val="500"/>
              </a:spcBef>
              <a:defRPr sz="1300"/>
            </a:pPr>
            <a:r>
              <a:t>• Boa-fé: Ocupação legítima autorizada</a:t>
            </a:r>
          </a:p>
          <a:p>
            <a:pPr>
              <a:spcBef>
                <a:spcPts val="500"/>
              </a:spcBef>
              <a:defRPr sz="1300"/>
            </a:pPr>
            <a:r>
              <a:t>• Função social cumprida</a:t>
            </a:r>
          </a:p>
          <a:p>
            <a:pPr>
              <a:spcBef>
                <a:spcPts val="500"/>
              </a:spcBef>
              <a:defRPr sz="1300"/>
            </a:pPr>
            <a:r>
              <a:t>• Direito adquirido protegido</a:t>
            </a:r>
          </a:p>
          <a:p>
            <a:pPr>
              <a:spcBef>
                <a:spcPts val="1500"/>
              </a:spcBef>
              <a:defRPr sz="1600" b="1">
                <a:solidFill>
                  <a:srgbClr val="003366"/>
                </a:solidFill>
              </a:defRPr>
            </a:pPr>
            <a:r>
              <a:t>4. JURISPRUDÊNCIA FAVORÁVEL</a:t>
            </a:r>
          </a:p>
          <a:p>
            <a:pPr>
              <a:spcBef>
                <a:spcPts val="500"/>
              </a:spcBef>
              <a:defRPr sz="1300"/>
            </a:pPr>
            <a:r>
              <a:t>• Tribunais protegem concessionários</a:t>
            </a:r>
          </a:p>
          <a:p>
            <a:pPr>
              <a:spcBef>
                <a:spcPts val="500"/>
              </a:spcBef>
              <a:defRPr sz="1300"/>
            </a:pPr>
            <a:r>
              <a:t>• Retomada sem indenização = confisco</a:t>
            </a:r>
          </a:p>
          <a:p>
            <a:pPr>
              <a:spcBef>
                <a:spcPts val="500"/>
              </a:spcBef>
              <a:defRPr sz="1300"/>
            </a:pPr>
            <a:r>
              <a:t>• Precedentes consolidados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Situação Atual do Imóvel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📍 OCUPAÇÃO E USO</a:t>
            </a:r>
          </a:p>
          <a:p>
            <a:pPr>
              <a:spcBef>
                <a:spcPts val="800"/>
              </a:spcBef>
              <a:defRPr sz="1400"/>
            </a:pPr>
            <a:r>
              <a:t>  Status: Ocupado e em operação</a:t>
            </a:r>
          </a:p>
          <a:p>
            <a:pPr>
              <a:spcBef>
                <a:spcPts val="800"/>
              </a:spcBef>
              <a:defRPr sz="1400"/>
            </a:pPr>
            <a:r>
              <a:t>  Tempo: Aproximadamente 30 anos (1995-2025)</a:t>
            </a:r>
          </a:p>
          <a:p>
            <a:pPr>
              <a:spcBef>
                <a:spcPts val="800"/>
              </a:spcBef>
              <a:defRPr sz="1400"/>
            </a:pPr>
            <a:r>
              <a:t>  Finalidade: Atividade comercial/industrial</a:t>
            </a:r>
          </a:p>
          <a:p>
            <a:pPr>
              <a:spcBef>
                <a:spcPts val="800"/>
              </a:spcBef>
              <a:defRPr sz="1400"/>
            </a:pPr>
            <a:r>
              <a:t>  Infraestrutura: Completa e funcional</a:t>
            </a:r>
          </a:p>
          <a:p>
            <a:pPr>
              <a:spcBef>
                <a:spcPts val="2500"/>
              </a:spcBef>
            </a:pPr>
            <a:endParaRPr/>
          </a:p>
          <a:p>
            <a:pPr>
              <a:defRPr sz="1800" b="1">
                <a:solidFill>
                  <a:srgbClr val="003366"/>
                </a:solidFill>
              </a:defRPr>
            </a:pPr>
            <a:r>
              <a:t>💰 ASPECTOS TRIBUTÁRIOS</a:t>
            </a:r>
          </a:p>
          <a:p>
            <a:pPr>
              <a:spcBef>
                <a:spcPts val="800"/>
              </a:spcBef>
              <a:defRPr sz="1400"/>
            </a:pPr>
            <a:r>
              <a:t>  IPTU: Em processo de regularização</a:t>
            </a:r>
          </a:p>
          <a:p>
            <a:pPr>
              <a:spcBef>
                <a:spcPts val="800"/>
              </a:spcBef>
              <a:defRPr sz="1400"/>
            </a:pPr>
            <a:r>
              <a:t>  Motivo: Indefinição sobre responsabilidade</a:t>
            </a:r>
          </a:p>
          <a:p>
            <a:pPr>
              <a:spcBef>
                <a:spcPts val="800"/>
              </a:spcBef>
              <a:defRPr sz="1400"/>
            </a:pPr>
            <a:r>
              <a:t>  Ação: Definição junto à Prefeitura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Possibilidades e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t>✅ O QUE É POSSÍVEL</a:t>
            </a:r>
          </a:p>
          <a:p>
            <a:pPr>
              <a:spcBef>
                <a:spcPts val="1000"/>
              </a:spcBef>
              <a:defRPr sz="1400"/>
            </a:pPr>
            <a:r>
              <a:t>• Transferência da concessão</a:t>
            </a:r>
          </a:p>
          <a:p>
            <a:pPr>
              <a:spcBef>
                <a:spcPts val="1000"/>
              </a:spcBef>
              <a:defRPr sz="1400"/>
            </a:pPr>
            <a:r>
              <a:t>• Uso comercial livre</a:t>
            </a:r>
          </a:p>
          <a:p>
            <a:pPr>
              <a:spcBef>
                <a:spcPts val="1000"/>
              </a:spcBef>
              <a:defRPr sz="1400"/>
            </a:pPr>
            <a:r>
              <a:t>• Investimentos protegidos</a:t>
            </a:r>
          </a:p>
          <a:p>
            <a:pPr>
              <a:spcBef>
                <a:spcPts val="1000"/>
              </a:spcBef>
              <a:defRPr sz="1400"/>
            </a:pPr>
            <a:r>
              <a:t>• Ampliações e melhorias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3440" y="109728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39C12"/>
                </a:solidFill>
              </a:defRPr>
            </a:pPr>
            <a:r>
              <a:t>⚠️ LIMITAÇÕES</a:t>
            </a:r>
          </a:p>
          <a:p>
            <a:pPr>
              <a:spcBef>
                <a:spcPts val="1000"/>
              </a:spcBef>
              <a:defRPr sz="1400" b="1"/>
            </a:pPr>
            <a:r>
              <a:t>GARANTIAS BANCÁRIAS</a:t>
            </a:r>
          </a:p>
          <a:p>
            <a:pPr>
              <a:spcBef>
                <a:spcPts val="500"/>
              </a:spcBef>
              <a:defRPr sz="1200"/>
            </a:pPr>
            <a:r>
              <a:t>• Algumas instituições não aceitam</a:t>
            </a:r>
          </a:p>
          <a:p>
            <a:pPr>
              <a:spcBef>
                <a:spcPts val="500"/>
              </a:spcBef>
              <a:defRPr sz="1200"/>
            </a:pPr>
            <a:r>
              <a:t>• Cooperativas aceitam</a:t>
            </a:r>
          </a:p>
          <a:p>
            <a:pPr>
              <a:spcBef>
                <a:spcPts val="500"/>
              </a:spcBef>
              <a:defRPr sz="1200"/>
            </a:pPr>
            <a:r>
              <a:t>• Garantias alternativas possíveis</a:t>
            </a:r>
          </a:p>
          <a:p>
            <a:pPr>
              <a:spcBef>
                <a:spcPts val="1500"/>
              </a:spcBef>
              <a:defRPr sz="1400" b="1"/>
            </a:pPr>
            <a:r>
              <a:t>TRANSFERÊNCIA</a:t>
            </a:r>
          </a:p>
          <a:p>
            <a:pPr>
              <a:spcBef>
                <a:spcPts val="500"/>
              </a:spcBef>
              <a:defRPr sz="1200"/>
            </a:pPr>
            <a:r>
              <a:t>• Anuência prévia necessária</a:t>
            </a:r>
          </a:p>
          <a:p>
            <a:pPr>
              <a:spcBef>
                <a:spcPts val="500"/>
              </a:spcBef>
              <a:defRPr sz="1200"/>
            </a:pPr>
            <a:r>
              <a:t>• Processo administrativo simples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Análise de Riscos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AVALIAÇÃO DE RISCOS E MITIGAÇÃO</a:t>
            </a:r>
          </a:p>
          <a:p>
            <a:pPr>
              <a:spcBef>
                <a:spcPts val="1500"/>
              </a:spcBef>
              <a:defRPr sz="1600" b="1"/>
            </a:pPr>
            <a:r>
              <a:t>🔴 RETOMADA PELA PREFEITURA</a:t>
            </a:r>
          </a:p>
          <a:p>
            <a:pPr>
              <a:spcBef>
                <a:spcPts val="500"/>
              </a:spcBef>
              <a:defRPr sz="1400"/>
            </a:pPr>
            <a:r>
              <a:t>Probabilidade: BAIXA</a:t>
            </a:r>
          </a:p>
          <a:p>
            <a:pPr>
              <a:spcBef>
                <a:spcPts val="300"/>
              </a:spcBef>
              <a:defRPr sz="1300"/>
            </a:pPr>
            <a:r>
              <a:t>Mitigação: Benfeitorias + Proteção constitucional</a:t>
            </a:r>
          </a:p>
          <a:p>
            <a:pPr>
              <a:spcBef>
                <a:spcPts val="1500"/>
              </a:spcBef>
              <a:defRPr sz="1600" b="1"/>
            </a:pPr>
            <a:r>
              <a:t>🟡 DIFICULDADE EM FINANCIAMENTO</a:t>
            </a:r>
          </a:p>
          <a:p>
            <a:pPr>
              <a:spcBef>
                <a:spcPts val="500"/>
              </a:spcBef>
              <a:defRPr sz="1400"/>
            </a:pPr>
            <a:r>
              <a:t>Probabilidade: MÉDIA</a:t>
            </a:r>
          </a:p>
          <a:p>
            <a:pPr>
              <a:spcBef>
                <a:spcPts val="300"/>
              </a:spcBef>
              <a:defRPr sz="1300"/>
            </a:pPr>
            <a:r>
              <a:t>Mitigação: Instituições adequadas ou garantias alternativas</a:t>
            </a:r>
          </a:p>
          <a:p>
            <a:pPr>
              <a:spcBef>
                <a:spcPts val="1500"/>
              </a:spcBef>
              <a:defRPr sz="1600" b="1"/>
            </a:pPr>
            <a:r>
              <a:t>🟢 QUESTIONAMENTO TRIBUTÁRIO</a:t>
            </a:r>
          </a:p>
          <a:p>
            <a:pPr>
              <a:spcBef>
                <a:spcPts val="500"/>
              </a:spcBef>
              <a:defRPr sz="1400"/>
            </a:pPr>
            <a:r>
              <a:t>Probabilidade: BAIXA</a:t>
            </a:r>
          </a:p>
          <a:p>
            <a:pPr>
              <a:spcBef>
                <a:spcPts val="300"/>
              </a:spcBef>
              <a:defRPr sz="1300"/>
            </a:pPr>
            <a:r>
              <a:t>Mitigação: Regularização proativa do IPTU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Estratégia Recomendada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</a:defRPr>
            </a:pPr>
            <a:r>
              <a:t>📋 CURTO PRAZO (0-30 dias)</a:t>
            </a:r>
          </a:p>
          <a:p>
            <a:pPr>
              <a:spcBef>
                <a:spcPts val="1000"/>
              </a:spcBef>
              <a:defRPr sz="1400"/>
            </a:pPr>
            <a:r>
              <a:t>• Regularização tributária (IPTU)</a:t>
            </a:r>
          </a:p>
          <a:p>
            <a:pPr>
              <a:spcBef>
                <a:spcPts val="1000"/>
              </a:spcBef>
              <a:defRPr sz="1400"/>
            </a:pPr>
            <a:r>
              <a:t>• Atualização cadastral na Prefeitura</a:t>
            </a:r>
          </a:p>
          <a:p>
            <a:pPr>
              <a:spcBef>
                <a:spcPts val="1000"/>
              </a:spcBef>
              <a:defRPr sz="1400"/>
            </a:pPr>
            <a:r>
              <a:t>• Documentação complementar (topografia, fotos)</a:t>
            </a:r>
          </a:p>
          <a:p>
            <a:pPr>
              <a:spcBef>
                <a:spcPts val="1000"/>
              </a:spcBef>
              <a:defRPr sz="1400"/>
            </a:pPr>
            <a:r>
              <a:t>• Laudo de avaliação das benfeitorias</a:t>
            </a:r>
          </a:p>
          <a:p>
            <a:pPr>
              <a:spcBef>
                <a:spcPts val="2500"/>
              </a:spcBef>
              <a:defRPr sz="1800" b="1">
                <a:solidFill>
                  <a:srgbClr val="003366"/>
                </a:solidFill>
              </a:defRPr>
            </a:pPr>
            <a:r>
              <a:t>📋 MÉDIO PRAZO (30-90 dias)</a:t>
            </a:r>
          </a:p>
          <a:p>
            <a:pPr>
              <a:spcBef>
                <a:spcPts val="1000"/>
              </a:spcBef>
              <a:defRPr sz="1400"/>
            </a:pPr>
            <a:r>
              <a:t>• Processo de transferência (anuência)</a:t>
            </a:r>
          </a:p>
          <a:p>
            <a:pPr>
              <a:spcBef>
                <a:spcPts val="1000"/>
              </a:spcBef>
              <a:defRPr sz="1400"/>
            </a:pPr>
            <a:r>
              <a:t>• Análise jurídica detalhada</a:t>
            </a:r>
          </a:p>
          <a:p>
            <a:pPr>
              <a:spcBef>
                <a:spcPts val="1000"/>
              </a:spcBef>
              <a:defRPr sz="1400"/>
            </a:pPr>
            <a:r>
              <a:t>• Due diligence completa</a:t>
            </a:r>
          </a:p>
          <a:p>
            <a:pPr>
              <a:spcBef>
                <a:spcPts val="1000"/>
              </a:spcBef>
              <a:defRPr sz="1400"/>
            </a:pPr>
            <a:r>
              <a:t>• Estruturação do 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27AE60"/>
                </a:solidFill>
              </a:defRPr>
            </a:pPr>
            <a:r>
              <a:t>PONTOS FORTES DA OPERAÇÃO</a:t>
            </a:r>
          </a:p>
          <a:p>
            <a:pPr>
              <a:spcBef>
                <a:spcPts val="1500"/>
              </a:spcBef>
              <a:defRPr sz="1600" b="1">
                <a:solidFill>
                  <a:srgbClr val="27AE60"/>
                </a:solidFill>
              </a:defRPr>
            </a:pPr>
            <a:r>
              <a:t>✅ SEGURANÇA JURÍDICA ELEVADA</a:t>
            </a:r>
          </a:p>
          <a:p>
            <a:pPr>
              <a:spcBef>
                <a:spcPts val="500"/>
              </a:spcBef>
              <a:defRPr sz="1400"/>
            </a:pPr>
            <a:r>
              <a:t>Base legal sólida + Proteção constitucional</a:t>
            </a:r>
          </a:p>
          <a:p>
            <a:pPr>
              <a:spcBef>
                <a:spcPts val="1500"/>
              </a:spcBef>
              <a:defRPr sz="1600" b="1">
                <a:solidFill>
                  <a:srgbClr val="27AE60"/>
                </a:solidFill>
              </a:defRPr>
            </a:pPr>
            <a:r>
              <a:t>✅ INVESTIMENTOS PROTEGIDOS</a:t>
            </a:r>
          </a:p>
          <a:p>
            <a:pPr>
              <a:spcBef>
                <a:spcPts val="500"/>
              </a:spcBef>
              <a:defRPr sz="1400"/>
            </a:pPr>
            <a:r>
              <a:t>Qualquer investimento está juridicamente protegido</a:t>
            </a:r>
          </a:p>
          <a:p>
            <a:pPr>
              <a:spcBef>
                <a:spcPts val="1500"/>
              </a:spcBef>
              <a:defRPr sz="1600" b="1">
                <a:solidFill>
                  <a:srgbClr val="27AE60"/>
                </a:solidFill>
              </a:defRPr>
            </a:pPr>
            <a:r>
              <a:t>✅ COMERCIALIZAÇÃO VIÁVEL</a:t>
            </a:r>
          </a:p>
          <a:p>
            <a:pPr>
              <a:spcBef>
                <a:spcPts val="500"/>
              </a:spcBef>
              <a:defRPr sz="1400"/>
            </a:pPr>
            <a:r>
              <a:t>Transferência possível mediante processo administrativo</a:t>
            </a:r>
          </a:p>
          <a:p>
            <a:pPr>
              <a:spcBef>
                <a:spcPts val="1500"/>
              </a:spcBef>
              <a:defRPr sz="1600" b="1">
                <a:solidFill>
                  <a:srgbClr val="27AE60"/>
                </a:solidFill>
              </a:defRPr>
            </a:pPr>
            <a:r>
              <a:t>✅ FUNÇÃO SOCIAL CUMPRIDA</a:t>
            </a:r>
          </a:p>
          <a:p>
            <a:pPr>
              <a:spcBef>
                <a:spcPts val="500"/>
              </a:spcBef>
              <a:defRPr sz="1400"/>
            </a:pPr>
            <a:r>
              <a:t>Imóvel gerando atividade econômica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F8C8D"/>
                </a:solidFill>
              </a:defRPr>
            </a:pPr>
            <a:r>
              <a:t>Apresentação Técnico-Jurídica • Araçatuba/SP • Nov/2025 • Pág.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DC3C7"/>
                </a:solidFill>
              </a:defRPr>
            </a:pPr>
            <a:r>
              <a:t>Documento preparado para</a:t>
            </a:r>
          </a:p>
          <a:p>
            <a:pPr algn="ctr">
              <a:spcBef>
                <a:spcPts val="500"/>
              </a:spcBef>
              <a:defRPr sz="2000">
                <a:solidFill>
                  <a:srgbClr val="BDC3C7"/>
                </a:solidFill>
              </a:defRPr>
            </a:pPr>
            <a:r>
              <a:t>análise técnica e jurídica</a:t>
            </a:r>
          </a:p>
          <a:p>
            <a:pPr>
              <a:spcBef>
                <a:spcPts val="3000"/>
              </a:spcBef>
            </a:pPr>
            <a:endParaRPr/>
          </a:p>
          <a:p>
            <a:pPr algn="ctr">
              <a:defRPr sz="1800">
                <a:solidFill>
                  <a:srgbClr val="FFFFFF"/>
                </a:solidFill>
              </a:defRPr>
            </a:pPr>
            <a:r>
              <a:t>Araçatuba/SP - Novembro de 2025</a:t>
            </a:r>
          </a:p>
          <a:p>
            <a:pPr>
              <a:spcBef>
                <a:spcPts val="4000"/>
              </a:spcBef>
            </a:pPr>
            <a:endParaRPr/>
          </a:p>
          <a:p>
            <a:pPr algn="ctr">
              <a:defRPr sz="1200">
                <a:solidFill>
                  <a:srgbClr val="7F8C8D"/>
                </a:solidFill>
              </a:defRPr>
            </a:pPr>
            <a:r>
              <a:t>Esta apresentação tem caráter informativo e não substitui</a:t>
            </a:r>
          </a:p>
          <a:p>
            <a:pPr algn="ctr">
              <a:spcBef>
                <a:spcPts val="500"/>
              </a:spcBef>
              <a:defRPr sz="1200">
                <a:solidFill>
                  <a:srgbClr val="7F8C8D"/>
                </a:solidFill>
              </a:defRPr>
            </a:pPr>
            <a:r>
              <a:t>análise jurídica detalhada por advogado especializado.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Anderson Enside</cp:lastModifiedBy>
  <cp:revision>2</cp:revision>
  <dcterms:created xsi:type="dcterms:W3CDTF">2013-01-27T09:14:16Z</dcterms:created>
  <dcterms:modified xsi:type="dcterms:W3CDTF">2025-11-12T17:04:12Z</dcterms:modified>
  <cp:category/>
</cp:coreProperties>
</file>